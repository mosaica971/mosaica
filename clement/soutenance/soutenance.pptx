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SOUTENANCE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01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Allouer la terre en Guadeloupe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C19"/>
                </a:solidFill>
                <a:latin typeface="Newsreader"/>
              </a:rPr>
              <a:t>Un modèle d'optimisation : ce qu'il sait dire, et qui tient les leviers qu'il désigne.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OUVERTURE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02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Chaque point est une parcelle réelle. Le rouge, c'est le chlordécone.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B03A2E"/>
                </a:solidFill>
                <a:latin typeface="Archivo"/>
              </a:rPr>
              <a:t>3 975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parcelles au risque le plus élevé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en Grande-Terre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2 147 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pour la seule Capesterre-Belle-Eau</a:t>
            </a:r>
          </a:p>
        </p:txBody>
      </p:sp>
      <p:pic>
        <p:nvPicPr>
          <p:cNvPr id="9" name="Picture 8" descr="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20" y="3090672"/>
            <a:ext cx="4631055" cy="3419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03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9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104241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Porter le modèle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 calibrer sur l'observé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Comparer des politiques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18687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11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93007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81C19"/>
                </a:solidFill>
                <a:latin typeface="Archivo"/>
              </a:rPr>
              <a:t>Le territoire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22191"/>
            <a:ext cx="10424160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Chlordécone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L'argent de la canne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Foncier, eau, échanges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Qui tient les leviers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03519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3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7783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81C19"/>
                </a:solidFill>
                <a:latin typeface="Archivo"/>
              </a:rPr>
              <a:t>Retour réflexif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04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Affecter chaque parcelle à au plus une 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97510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24 734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parcelles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10512"/>
            <a:ext cx="197510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4 638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exploitations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1810512"/>
            <a:ext cx="197510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23 578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hectares cultivés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1424" y="1810512"/>
            <a:ext cx="197510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84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cultures possibles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1810512"/>
            <a:ext cx="197510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A8761C"/>
                </a:solidFill>
                <a:latin typeface="Archivo"/>
              </a:rPr>
              <a:t>308 847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choix binaires à trancher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53512"/>
            <a:ext cx="10424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Maximiser la marge du territoire, ajustée du risque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Sous contraintes d'agronomie, de foncier, de main-d'œuvre et de quotas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39896"/>
            <a:ext cx="10424160" cy="329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C645E"/>
                </a:solidFill>
                <a:latin typeface="IBM Plex Mono"/>
              </a:rPr>
              <a:t>P11019 — Capesterre-Belle-Eau, 0,80 ha, irrigable, chlordécone classe 1. Son exploitation : 8 parcelles, 3,09 ha. On la retrouvera.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05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Réécrire l'outil, défauts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Dépendance — langage propriétaire, licences, versions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Traçabilité — faire varier un levier supposait d'éditer le code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Silence — interrogé sur une colonne absente, l'outil renvoie 0 sans prévenir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Ce que ce zéro muet avait produit. Le verger pluvial était interdit sur toutes les parcelles du territoire, depuis toujours. Code correct, résultat plausible, défaut invisible.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47872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29584"/>
            <a:ext cx="10259568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Parité d'abord, corrections ensuite — sinon une divergence n'est plus attribuable.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41063"/>
            <a:ext cx="249631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18 377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lignes 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3941063"/>
            <a:ext cx="249631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613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tests automatisés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3941063"/>
            <a:ext cx="249631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81C19"/>
                </a:solidFill>
                <a:latin typeface="Archivo"/>
              </a:rPr>
              <a:t>681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sommes de contrôle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3941063"/>
            <a:ext cx="249631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2665C"/>
                </a:solidFill>
                <a:latin typeface="Archivo"/>
              </a:rPr>
              <a:t>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fichier de configuration qui pilote tout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06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Savoir décrire avant de prescrire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LE RÉSULTAT QUI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12 782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hectares de canne simulés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084831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12 813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hectares observés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27832"/>
            <a:ext cx="104241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Aucune contrainte ne nomme la canne. Ni imposée, ni plafonnée, ni dotée d'une ligne d'aide propre — retrouvée à 0,2 % près. Même chose pour la banane.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758183"/>
          <a:ext cx="1105783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Métrique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Article 2015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Modèle porté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Types d'exploitation reproduits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81 %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86,9 %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Parcelles bien simulées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66 %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67,6 %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Surface bien simulée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77 %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77,1 %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07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Ce que le modèle ne sait pas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4 cultures sur 11 sous le seuil d'écart. Le résidu est sur les petits postes.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Aucun débouché modélisé, sauf canne et banane d'export. Le vivrier suppose un marché infini.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96896"/>
            <a:ext cx="10424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L'élevage est absent — 6 109 ha de prairie sans raison de l'être.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Rendements potentiels, 1 à 4 fois ceux du territoire.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01568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79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Un écart nul serait une alerte, pas un succès. Le plan observé vaut environ 15 % de moins que l'optimum calculé : un modèle qui reproduirait exactement l'observé aurait cessé d'être normatif.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08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Politiques × forçages × fronts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POLITIQUE 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104241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Ce que décide la puissance publique : plafond d'azote, enveloppe de subventions, plancher d'emploi, inertie.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05456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FORÇAGE ·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5"/>
            <a:ext cx="104241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Ce qu'imposent le climat et les marchés : cyclone, sécheresse, choc sur les intrants, crise systémique.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399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BALAYAGE · 2 FRONTS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7471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La variation d'un seuil, point par point, pour tracer les compromis atteignables.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1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95344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Pas de moyenne sur les forçages — ce serait affirmer une loi de probabilité que personne n'a choisie. Pire cas, regret maximal, domaine de viabilité.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25112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06824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Fronts par ε-contrainte, pas par somme pondérée : en nombres entiers, une somme pondérée rate les points non convexes.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09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Le classement dépend du contexte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La marge brute contient la subvention. Classer sur elle des politiques qui déplacent des aides avantage celles qui subventionnent le plus — d'où la colonne hors aide, où le classement change encore.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1401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« — » signale une cellule jamais calculée, pas une infaisabilité. 14 cellules résolues sur 120 possibles : budget de calcul gelé.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916936"/>
          <a:ext cx="110578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Politique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Nominal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dont hors aide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Choc intrants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Crise systémique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Statu quo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98,4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27,1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59,8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−17,0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Écophyto réglementaire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83,0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26,5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41,3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Transition agroécologique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81,4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42,1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−19,8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Souveraineté alimentaire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128,2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93,3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−32,2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10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L'aide achète de la stabilité, pas de la marge</a:t>
            </a:r>
          </a:p>
        </p:txBody>
      </p:sp>
      <p:pic>
        <p:nvPicPr>
          <p:cNvPr id="6" name="Picture 5" descr="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02910"/>
            <a:ext cx="5708599" cy="32580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810512"/>
            <a:ext cx="478231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18 % → 34 %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part de la marge absorbée par le risque, enveloppe resserrée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53512"/>
            <a:ext cx="4892040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Banane d'export : 2 004 → 95 ha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Canne : −2 231 ha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Maraîchage et igname : doublés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Prairie : +1 539 ha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453127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4727448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L'export libère 4 140 ha ; le vivrier en reprend la moitié. Et personne ne vérifie que ces hectares trouvent un acheteur.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TERRITOIRE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11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L'assolement d'aujourd'hui est un dépôt de décisions publiques</a:t>
            </a:r>
          </a:p>
        </p:txBody>
      </p:sp>
      <p:pic>
        <p:nvPicPr>
          <p:cNvPr id="6" name="Picture 5" descr="f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56046"/>
            <a:ext cx="11057839" cy="33461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 TERRITOIRE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12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Produire peu, cher, et importer l'essentiel</a:t>
            </a:r>
          </a:p>
        </p:txBody>
      </p:sp>
      <p:pic>
        <p:nvPicPr>
          <p:cNvPr id="6" name="Picture 5" descr="asso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882762"/>
            <a:ext cx="5708599" cy="2098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810512"/>
            <a:ext cx="2336291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7 200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exploitations agricoles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2948" y="1810512"/>
            <a:ext cx="2336291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5 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de moyenne, contre 69 ha dans l'Hexagone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2336291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B03A2E"/>
                </a:solidFill>
                <a:latin typeface="Archivo"/>
              </a:rPr>
              <a:t>+42 %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sur les produits alimentaires face à l'Hexagone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2948" y="2953512"/>
            <a:ext cx="2336291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≈ 20 %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des besoins couverts localement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114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4727448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Trois cultures, 90 % de la terre. Développer le vivrier n'est pas une politique d'ajout, c'est une politique de retrait.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CHLORDÉCONE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13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Il n'interdit pas la banane. Il interdit l'igname.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B03A2E"/>
                </a:solidFill>
                <a:latin typeface="Archivo"/>
              </a:rPr>
              <a:t>14 200 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classés à risque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9008" y="1810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≈ 7 300 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encore en usage agricole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71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La molécule est fixée dans le sol et passe dans l'organe récolté qui touche ce sol.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64992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C645E"/>
                </a:solidFill>
                <a:latin typeface="IBM Plex Mono"/>
              </a:rPr>
              <a:t>P11019, classe 1 : on peut y planter de la canne, pas de l'igname.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67328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Autorisé par dérogation pour sauver la banane, il frappe aujourd'hui les cultures vivrières de base.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270248"/>
          <a:ext cx="110578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Sensible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Non sensible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Igname, patate douce, madère, dachine, carotte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Canne à sucre, banane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Melon, pastèque, concombre, courge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Agrumes, fruitiers, arboriculture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Ciboule, poireau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Légumes-fruits palissés, hors-sol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Élevage au sol, volailles de plein air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L'ARGENT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14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Cinq instruments publics sous un prix qui n'en est pas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314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&gt; 80 %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du prix de la canne payé par l'argent public — ordre de grandeur de presse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53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usines — Gardel en traite 85 %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953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3 087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exploitations de canne, ≈ 4 ha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114800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96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« Supprimez 2 231 hectares de canne » ne parle pas d'une culture : cela parle du revenu de plusieurs centaines de familles.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617720"/>
          <a:ext cx="11057839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3926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Instrument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Décidé à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Ordre de grandeur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23926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Prix conventionné payé au planteur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filière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109–113 €/t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23926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Aide d'État aux planteurs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France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447 €/ha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23926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Aide à la transformation, versée à l'usine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France · 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7,3 M€ (Gardel, 2019)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23926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Aide nationale au sucre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France · 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≤ 90 M€/an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2392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Accise réduite sur le rhum — dépense fiscale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France · 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≈ 78,6 M€ (2011)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LES VERROUS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15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Deux verrous que le modèle suppose résolus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LE FONCIER — UN VERROU NOTARIAL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9 000 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à 10 000, non exploités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084831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≈ 1/4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de la surface agricole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084831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450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jeunes en attente de terres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27832"/>
            <a:ext cx="10424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Indivisions non réglées, propriétaires introuvables, occupations sans titre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Retraites très basses, espoir d'un déclassement en terrain constructible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14215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L'EAU — UN VERROU D'INFRASTRUCTURE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88536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B03A2E"/>
                </a:solidFill>
                <a:latin typeface="Archivo"/>
              </a:rPr>
              <a:t>13 / 38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zones en tours d'eau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4288536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B03A2E"/>
                </a:solidFill>
                <a:latin typeface="Archivo"/>
              </a:rPr>
              <a:t>9 000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fuites réparées en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4288536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200 ans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pour renouveler le 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31536"/>
            <a:ext cx="10424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Plan d'investissement de 320 M€ engagé en 2023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 modèle prélève sur les parcelles irrigables et suppose la ressource distribuée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LES VERROUS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16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La Dominique est à 40 km. Rotterdam à 6 800.</a:t>
            </a:r>
          </a:p>
        </p:txBody>
      </p:sp>
      <p:pic>
        <p:nvPicPr>
          <p:cNvPr id="6" name="Picture 5" descr="im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3044370"/>
            <a:ext cx="5708599" cy="17750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810512"/>
            <a:ext cx="4892040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Les normes sanitaires européennes, que les productions voisines ne satisfont pas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 statut — membre associé des organisations caribéennes, sans les leviers d'un État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La logistique — des flux en étoile vers l'Europe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32841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472744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Le seul outil tarifaire en propre : l'octroi de mer. Jusqu'à 30 points d'écart en faveur du produit local, un tiers des ressources communales — et 4,4 % du prix final des produits importés.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LES ACTEURS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17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Le verrou syndical hexagonal n'existe pas ici</a:t>
            </a:r>
          </a:p>
        </p:txBody>
      </p:sp>
      <p:pic>
        <p:nvPicPr>
          <p:cNvPr id="6" name="Picture 5" descr="syndic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440039"/>
            <a:ext cx="5708599" cy="2983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810512"/>
            <a:ext cx="489204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MODEF — premier, 12 sièges ; 1,5 % au niveau national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JA-FNSEA — deuxième, 2 sièges ; 46,7 % et 72 chambres dans l'Hexagone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Cinq listes, et un scrutin annulé par le tribunal administratif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6265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472744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Aucun interlocuteur unique ne peut bloquer la discussion — ni l'imposer.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LES LEVIERS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18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Où se trouvent les leviers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GUADELOUPE — LE PLUS RAPIDE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10424160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Octroi de mer différencié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Commande publique — cantines, restauration collective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Mobilisation des friches, gouvernance des groupements fonciers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Exécution du plan 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66159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FRANCE — L'ARGENT ET LE DROIT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79"/>
            <a:ext cx="10424160" cy="1426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Convention canne — le revenu de 3 000 exploitations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Dépense fiscale rhum, aide nationale au sucre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Droit des successions — un quart de la surface agricole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Chlordécone : reconnaissance, indemnisation, dépollution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21807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EUROPE — LA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96127"/>
            <a:ext cx="104241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La clé de répartition des aides entre filières traditionnelles et diversification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 statut ultrapériphérique, renégocié à chaque programmation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Les normes sanitaires — acheter, ou non, à la Dominique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RÉFLEXIVITÉ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19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Ce que je pensais, ce que les données disent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Aucune de ces quatre lignes n'était dans la commande de stage.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31720"/>
          <a:ext cx="110578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En arrivant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Après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La Guadeloupe est contaminée au chlordécone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Une aile du papillon l'est — zéro parcelle au risque maximal en Grande-Terre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Le chlordécone est un problème agronomique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C'est une décision administrative, et elle frappe le vivrier, pas l'export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Le vivrier est limité par la terre disponible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Il est limité par le débouché et par le notaire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L'aide publique soutient le revenu agricole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Elle achète de la stabilité — la marge varie en sens inverse de l'enveloppe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RÉFLEXIVITÉ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20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Le stage à l'épreuve des cinq axes du mastère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La formation m'a donné les outils pour construire l'instrument, et le cadre pour voir ce qui manque autour. Le stage ne m'a fait exercer que le premier.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31720"/>
          <a:ext cx="11057839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Contextes planétaires et enjeux anthropiques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Indicateurs azote, gaz à effet de serre, eau, carbone — calculés, pas simulés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Sciences et méthodes systémiques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Agronomie, économie, foncier et environnement dans un seul programme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Modélisation de systèmes socio-écologiques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Cœur du stage. Le social y est réduit à un coefficient d'aversion au risque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Analyse multi-objectif et évaluation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Fronts par ε-contrainte, critères de décision dans l'incertain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Gouvernance et économie de la soutenabilité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C'est ma deuxième partie — et elle n'est pas dans le livrable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RÉFLEXIVITÉ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21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Modéliser, c'est convertir des rapports de force en paramètres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LE CHLORDÉCONE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104241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Un scandale sanitaire, une dérogation obtenue pour protéger une filière d'exportation.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05456"/>
            <a:ext cx="104241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Dans le code : une règle d'éligibilité.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26079"/>
            <a:ext cx="10424160" cy="21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2665C"/>
                </a:solidFill>
                <a:latin typeface="IBM Plex Mono"/>
              </a:rPr>
              <a:t>LES 60 % DE CANNE DE 1981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399"/>
            <a:ext cx="1042416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Une obligation inscrite dans un titre de propriété, issue d'un arbitrage politique.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3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Dans le code : une contrainte de part, écrite comme la pente.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59935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Quand le modèle sort « 12 782 hectares de canne », plus rien ne distingue ce qui vient de l'agronomie de ce qui vient d'une décision de 1981 ou d'une dérogation de 1990.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47141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3128"/>
            <a:ext cx="10259568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L'assistant de programmation. Il a écrit l'essentiel des lignes. Il n'a pris aucune des décisions : mandat de parité, architecture, dispositif de scénarios, refus de moyenner, ε-contrainte.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056631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38344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Les deux risques. Des résultats faux mais plausibles — le défaut que je reprochais à l'outil d'origine. Et un code qui se densifie plus vite que celui qui le pilote.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22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81C19"/>
                </a:solidFill>
                <a:latin typeface="Archivo"/>
              </a:rPr>
              <a:t>Un instrument, et une carte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C19"/>
                </a:solidFill>
                <a:latin typeface="Newsreader"/>
              </a:rPr>
              <a:t>Un instrument dont le domaine de validité est connu, et une carte des leviers sur lesquels il peut dire quelque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13432"/>
            <a:ext cx="10424160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C19"/>
                </a:solidFill>
                <a:latin typeface="Newsreader"/>
              </a:rPr>
              <a:t>Il sait chiffrer ce que coûterait de déplacer l'assolement. Il ne sait pas dire qui peut le déplacer.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16352"/>
            <a:ext cx="10424160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C19"/>
                </a:solidFill>
                <a:latin typeface="Newsreader"/>
              </a:rPr>
              <a:t>Je vous remercie.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D'où vient chaque chiffre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Les chiffres du modèle — 24 734 parcelles, 12 782 ha de canne simulés, les fronts — se relisent dans les dossiers de résultats du dépôt.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31720"/>
          <a:ext cx="534603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019"/>
                <a:gridCol w="267302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Chiffre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Source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+42 % sur l'alimentaire, +16 % tous postes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Insee, comparaison spatiale des prix 2022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7 200 exploitations, 31 836 ha de SAU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Recensement agricole 2020, Agreste / DAAF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3 087 exploitations de canne, 12 417 ha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Agreste / DAAF, RA 2020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14 200 ha à risque, ≈ 7 300 cultivés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DAAF Guadeloupe, cartographie chlordécone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Interdiction 1990, dérogation jusqu'en 1993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Assemblée nationale, rapport n° 2440 (2019)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Aide canne 447 €/ha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décret n° 2023-42 du 30 janvier 2023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Octroi de mer : 30 pts, échéance 2027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décision (UE) 2021/991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78727" y="2331720"/>
          <a:ext cx="534603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019"/>
                <a:gridCol w="2673020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Chiffre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Source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Octroi de mer = 4,4 % du prix final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étude AMF / ACCD'OM, janvier 2025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Taxe « à bout de souffle », 1,6 Md€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Cour des comptes, mars 2024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Rhum : 153 000 HAP, ≈ 78,6 M€ (2011)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Douane ; Sénat, textes E3571 et E6630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9 000-10 000 ha de friches, 450 jeunes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Sénat, rapport n° 799 (2023)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Chambres d'agriculture 2025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ministère de l'Agriculture, résultats officiels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79 % Europe / 8 % Caraïbe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DEAL Guadeloupe, diagnostic alimentaire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&gt; 80 % du prix de la canne, Gardel 85 %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presse — ordre de grandeur, annoncé comme tel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Combien de temps dure une résolution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Facteur 11 à taille constante. L'estimateur annonce donc une fourchette, jamais un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21992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Démarrage à chaud au-delà de ≈ 309 000 binaires : 720 s à froid contre 209 s à chaud, objectif identique. Chaque amorce est auditée — le solveur rejette une amorce infaisable en silence.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916936"/>
          <a:ext cx="11057839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691"/>
                <a:gridCol w="1579691"/>
                <a:gridCol w="1579691"/>
                <a:gridCol w="1579691"/>
                <a:gridCol w="1579691"/>
                <a:gridCol w="1579691"/>
                <a:gridCol w="1579693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Configuration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Binaires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Résolutions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Plus rapide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Plus lente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Moyenne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Dispersion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Calibration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308 847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327 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3 625 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1 448 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91 %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Prospective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331 044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2 505 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10 856 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7 043 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49 %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L'écart par 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2665C"/>
                </a:solidFill>
                <a:latin typeface="Archivo"/>
              </a:rPr>
              <a:t>4 / 11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cultures sous le seuil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9008" y="1810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77,1 %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de la surface bien reproduite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71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Les quatre cultures qui passent portent l'essentiel de la surface. Quelques dizaines d'hectares suffisent à faire exploser un pourcentage sur un petit poste.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38328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259568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Cause commune : des rendements potentiels, 1 à 4 fois ceux du territoire. Le melon, seule culture à itinéraire unique, est la seule ligne où les deux coïncident.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886200"/>
          <a:ext cx="11057839" cy="2167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0958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Culture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Écart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Culture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C645E"/>
                          </a:solidFill>
                          <a:latin typeface="IBM Plex Mono"/>
                        </a:rPr>
                        <a:t>Écart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095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Canne à sucre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0,2 %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Jachère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32,7 %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095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Prairie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0,2 %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Banane créole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67,5 %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095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Maraîchage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5,7 %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Igname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77,9 %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095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Banane export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6,6 %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Arboriculture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90,2 %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0958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Verger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97,4 %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Melon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97,8 %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0959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Ananas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247,6 %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Un kilogramme d'azote n'a pas le même prix sous deux politiques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15,73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€/kg — configuration de référence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9008" y="1810512"/>
            <a:ext cx="51023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2665C"/>
                </a:solidFill>
                <a:latin typeface="Archivo"/>
              </a:rPr>
              <a:t>8,01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€/kg — politique agroécologique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71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Moins cher à retirer sous une politique déjà contraignante : les usages les plus intensifs sont déjà écartés.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383280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Pourquoi tracer le front. Les prix duaux valaient 19,69 et 19,76 €/kg : lus seuls, ils auraient fait conclure à l'égalité des coûts marginaux. Un dual donne une pente locale, un front donne le coût sur tout l'intervalle.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6849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0208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Figer les entiers ne marche pas ici : le modèle est purement binaire, tous les duaux vaudraient zéro. Ce sont les duaux de la relaxation linéaire qui sont lus.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Dix politiques, douze forçages, quatorze cellules résolues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Budget de calcul gelé volontairement. « Jamais calculé » est affiché comme tel : une case vide n'est pas une infaisabilité.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31720"/>
          <a:ext cx="5346039" cy="3474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73019"/>
                <a:gridCol w="2673020"/>
              </a:tblGrid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Bifurcation agroécologique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Transition agroécologique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Écophyto réglementaire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Verdissement incitatif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Statu quo — témoin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Intensification modérée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Austérité budgétaire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Accélérationnisme industriel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Dérégulation totale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Souveraineté alimentaire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78727" y="2331720"/>
          <a:ext cx="5346039" cy="3474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73019"/>
                <a:gridCol w="2673020"/>
              </a:tblGrid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Conjoncture favorable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Nominal — forçage nul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Dérive climatique · choc sanitaire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Cyclone majeur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Sécheresse sévère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Inflation alimentaire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Retrait des aides · effondrement export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Choc sur les intrants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Artificialisation des terres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jamais</a:t>
                      </a:r>
                    </a:p>
                  </a:txBody>
                  <a:tcPr marL="54864" marR="54864" marT="18288" marB="18288" anchor="ctr">
                    <a:solidFill>
                      <a:srgbClr val="F4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Crise systémique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81C19"/>
                          </a:solidFill>
                          <a:latin typeface="Newsreader"/>
                        </a:rPr>
                        <a:t>résolu</a:t>
                      </a:r>
                    </a:p>
                  </a:txBody>
                  <a:tcPr marL="54864" marR="54864" marT="18288" marB="18288" anchor="ctr">
                    <a:solidFill>
                      <a:srgbClr val="FBFC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Cinq pièges que le dispositif signale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1773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Un indicateur qu'une contrainte fixe est une hypothèse, pas un résultat. Noter une politique sur le plafond qu'elle s'est donné est circulaire.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Un score composite mesure la finesse du découpage s'il n'est pas équilibré par famille d'indicateurs.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Deux résiliences, jamais additionnées. L'exposition d'une allocation figée ; la capacité d'adaptation sous contrainte politique.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25 variantes maraîchères sont indiscernables pour le modèle : une contrainte qui les distingue est satisfaite par réétiquetage.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Un point dominé signale une résolution non convergée, pas une découverte : serrer une contrainte ne peut pas améliorer l'objectif.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Le socle européen, et sa contradiction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Article 349 du traité — autorise des dérogations douanières, fiscales, agricoles et d'aides d'État pour les régions ultrapériphériques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Règlement (UE) n° 228/2013 — l'instrument : le programme POSEI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≈ 280 M€ de fonds européens par an pour la France, plus une enveloppe nationale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6265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Deux jambes. L'une soutient les productions locales. L'autre, ≈ 27 M€/an, subventionne l'importation de produits européens et d'intrants — notamment l'alimentation du cheptel.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47872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29584"/>
            <a:ext cx="10259568" cy="356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Ces aides représentent de l'ordre des trois quarts de la marge brute agricole. Quand le modèle maximise une marge, il maximise surtout une décision administrative.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L'agriculture recule, la disposition au changement est mesurée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−25 %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exploitations, 1990-2000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−36 %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2000-2010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2665C"/>
                </a:solidFill>
                <a:latin typeface="Archivo"/>
              </a:rPr>
              <a:t>−7 %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2010-2020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71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La surface agricole, elle, est stable. Les exploitations spécialisées en canne reculent de 30 %, l'élevage bovin progresse.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64992"/>
            <a:ext cx="104241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Blazy et al. (2011) — les planteurs valorisent l'association de cultures et la jachère améliorée, mais pas la variété nouvelle tolérante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L'obstacle n'est pas le refus du changement, c'est la nature du changement proposé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Travaux récents de l'unité : co-conception, agriculteurs-passeurs, micro-fermes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17136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98848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Ce qui manque n'est pas la volonté : c'est le débouché, le foncier et l'eau.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1^er octobre 2017 : cinquante ans de protection s'arrêtent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424160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De 1968 à 2017, le marché européen du sucre est organisé par quotas, avec un accès garanti pour l'outre-mer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Concurrence frontale avec la betterave européenne, dont la production bondit de 16,8 à 20,2 Mt dès la première campagne libéralisée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96896"/>
            <a:ext cx="10424160" cy="1078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≈ 60 % du sucre ultramarin part en raffinerie pour devenir du sucre blanc — le segment le plus exposé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Les 40 % restants sont des sucres spéciaux : la niche, elle, tient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C645E"/>
                </a:solidFill>
                <a:latin typeface="Newsreader"/>
              </a:rPr>
              <a:t>— Sénat, 2016 : « Sucre des régions ultrapériphériques en danger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49039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30751"/>
            <a:ext cx="10259568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Canne antillaise et betterave sont toutes deux subventionnées — l'une au titre de la politique agricole commune, l'autre au titre d'une dérogation. Une politique se défend ; une exception se renégocie.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5C645E"/>
                </a:solidFill>
                <a:latin typeface="IBM Plex Mono"/>
              </a:rPr>
              <a:t>RÉSERVE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7327" y="310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>
                <a:solidFill>
                  <a:srgbClr val="8A928B"/>
                </a:solidFill>
                <a:latin typeface="IBM Plex Mono"/>
              </a:rPr>
              <a:t>RÉSERVE R10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D6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1C19"/>
                </a:solidFill>
                <a:latin typeface="Archivo"/>
              </a:rPr>
              <a:t>Une clause de propriété de 1981, devenue règle agronomique dans 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A8761C"/>
                </a:solidFill>
                <a:latin typeface="Archivo"/>
              </a:rPr>
              <a:t>38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groupements fonciers agricoles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81C19"/>
                </a:solidFill>
                <a:latin typeface="Archivo"/>
              </a:rPr>
              <a:t>≈ 9 000 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et ≈ 800 exploitants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810512"/>
            <a:ext cx="336499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B03A2E"/>
                </a:solidFill>
                <a:latin typeface="Archivo"/>
              </a:rPr>
              <a:t>60 %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45E"/>
                </a:solidFill>
                <a:latin typeface="IBM Plex Mono"/>
              </a:rPr>
              <a:t>de canne obligatoires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71800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L'exploitant est fermier d'un groupement dont il détient ≈ 40 % des parts ; SAFER, Crédit Agricole et département détiennent le reste.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83280"/>
            <a:ext cx="29260" cy="9525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102595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Activer cette contrainte rend le modèle infaisable sur les données de 2017 — la même infaisabilité que dans le modèle d'origine. La règle de 1981 et l'assolement d'aujourd'hui ne sont pas compatibles.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68496"/>
            <a:ext cx="29260" cy="9525"/>
          </a:xfrm>
          <a:prstGeom prst="rect">
            <a:avLst/>
          </a:prstGeom>
          <a:solidFill>
            <a:srgbClr val="226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1025956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45E"/>
                </a:solidFill>
                <a:latin typeface="Newsreader"/>
              </a:rPr>
              <a:t>Fait contre-intuitif : sur 4 799 parcelles sous clause de canne, 46 seulement sont au risque chlordécone maximal. Deux héritages, deux géographies distinctes.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